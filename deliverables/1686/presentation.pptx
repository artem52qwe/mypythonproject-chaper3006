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ebfb91fd974d5b" /><Relationship Type="http://schemas.openxmlformats.org/officeDocument/2006/relationships/extended-properties" Target="/docProps/app.xml" Id="Rc4758a616d814cb7" /><Relationship Type="http://schemas.openxmlformats.org/officeDocument/2006/relationships/officeDocument" Target="/ppt/presentation.xml" Id="R3758fc84cab04b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1f6cd0a0304777"/>
  </p:sldMasterIdLst>
  <p:notesMasterIdLst>
    <p:notesMasterId xmlns:r="http://schemas.openxmlformats.org/officeDocument/2006/relationships" r:id="R8838a71d40c04ee4"/>
  </p:notesMasterIdLst>
  <p:sldIdLst>
    <p:sldId xmlns:r="http://schemas.openxmlformats.org/officeDocument/2006/relationships" id="256" r:id="R353baf17a1744321"/>
    <p:sldId xmlns:r="http://schemas.openxmlformats.org/officeDocument/2006/relationships" id="257" r:id="R352f2f8149c84bf8"/>
    <p:sldId xmlns:r="http://schemas.openxmlformats.org/officeDocument/2006/relationships" id="258" r:id="R5b44745ebf71494e"/>
    <p:sldId xmlns:r="http://schemas.openxmlformats.org/officeDocument/2006/relationships" id="259" r:id="R0fe03cc6964a4166"/>
    <p:sldId xmlns:r="http://schemas.openxmlformats.org/officeDocument/2006/relationships" id="260" r:id="R1ac71e4d05fa4289"/>
    <p:sldId xmlns:r="http://schemas.openxmlformats.org/officeDocument/2006/relationships" id="261" r:id="R0a90a22f925f4293"/>
    <p:sldId xmlns:r="http://schemas.openxmlformats.org/officeDocument/2006/relationships" id="262" r:id="R5672cf3e9fed425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8fda1971a249cc" /><Relationship Type="http://schemas.openxmlformats.org/officeDocument/2006/relationships/slideMaster" Target="/ppt/slideMasters/slideMaster1.xml" Id="R801f6cd0a0304777" /><Relationship Type="http://schemas.openxmlformats.org/officeDocument/2006/relationships/notesMaster" Target="/ppt/notesMasters/notesMaster1.xml" Id="R8838a71d40c04ee4" /><Relationship Type="http://schemas.openxmlformats.org/officeDocument/2006/relationships/presProps" Target="/ppt/presProps.xml" Id="R6094dad16c2543b3" /><Relationship Type="http://schemas.openxmlformats.org/officeDocument/2006/relationships/tableStyles" Target="/ppt/tableStyles.xml" Id="Rfb1b4261a1b14aaf" /><Relationship Type="http://schemas.openxmlformats.org/officeDocument/2006/relationships/slide" Target="/ppt/slides/slide1.xml" Id="R353baf17a1744321" /><Relationship Type="http://schemas.openxmlformats.org/officeDocument/2006/relationships/slide" Target="/ppt/slides/slide2.xml" Id="R352f2f8149c84bf8" /><Relationship Type="http://schemas.openxmlformats.org/officeDocument/2006/relationships/slide" Target="/ppt/slides/slide3.xml" Id="R5b44745ebf71494e" /><Relationship Type="http://schemas.openxmlformats.org/officeDocument/2006/relationships/slide" Target="/ppt/slides/slide4.xml" Id="R0fe03cc6964a4166" /><Relationship Type="http://schemas.openxmlformats.org/officeDocument/2006/relationships/slide" Target="/ppt/slides/slide5.xml" Id="R1ac71e4d05fa4289" /><Relationship Type="http://schemas.openxmlformats.org/officeDocument/2006/relationships/slide" Target="/ppt/slides/slide6.xml" Id="R0a90a22f925f4293" /><Relationship Type="http://schemas.openxmlformats.org/officeDocument/2006/relationships/slide" Target="/ppt/slides/slide7.xml" Id="R5672cf3e9fed42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26b3646de54a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ffddcd54a3422d" /><Relationship Type="http://schemas.openxmlformats.org/officeDocument/2006/relationships/notesMaster" Target="/ppt/notesMasters/notesMaster1.xml" Id="Re33328e0562b40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029aeaa5c94287" /><Relationship Type="http://schemas.openxmlformats.org/officeDocument/2006/relationships/notesMaster" Target="/ppt/notesMasters/notesMaster1.xml" Id="R35428ad1b99e42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f36876cc644d85" /><Relationship Type="http://schemas.openxmlformats.org/officeDocument/2006/relationships/notesMaster" Target="/ppt/notesMasters/notesMaster1.xml" Id="Rea31fb5fd82f41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1bce6489814ba5" /><Relationship Type="http://schemas.openxmlformats.org/officeDocument/2006/relationships/notesMaster" Target="/ppt/notesMasters/notesMaster1.xml" Id="R81a282ad96f64c7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9f1da7dd574a92" /><Relationship Type="http://schemas.openxmlformats.org/officeDocument/2006/relationships/notesMaster" Target="/ppt/notesMasters/notesMaster1.xml" Id="Rf94b8bd2e50546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4f924bf3b5b4ba5" /><Relationship Type="http://schemas.openxmlformats.org/officeDocument/2006/relationships/notesMaster" Target="/ppt/notesMasters/notesMaster1.xml" Id="R32bea4ae905549d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8b619231da4b45" /><Relationship Type="http://schemas.openxmlformats.org/officeDocument/2006/relationships/notesMaster" Target="/ppt/notesMasters/notesMaster1.xml" Id="R8e2319ec8a824c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план, реальные встречи не проводились. Источники: https://kanbanguides.org/the-kanban-guide и https://peps.python.org/pep-0008/. Даты являются будущим планом 02–27 ноября 2026. Подробности и риски приведены в сопроводительном отчёте.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план, реальные встречи не проводились. Источники: https://kanbanguides.org/the-kanban-guide и https://peps.python.org/pep-0008/. Даты являются будущим планом 02–27 ноября 2026. Подробности и риски приведены в сопроводительном отчёте.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план, реальные встречи не проводились. Источники: https://kanbanguides.org/the-kanban-guide и https://peps.python.org/pep-0008/. Даты являются будущим планом 02–27 ноября 2026. Подробности и риски приведены в сопроводительном отчёте.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план, реальные встречи не проводились. Источники: https://kanbanguides.org/the-kanban-guide и https://peps.python.org/pep-0008/. Даты являются будущим планом 02–27 ноября 2026. Подробности и риски приведены в сопроводительном отчёте.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план, реальные встречи не проводились. Источники: https://kanbanguides.org/the-kanban-guide и https://peps.python.org/pep-0008/. Даты являются будущим планом 02–27 ноября 2026. Подробности и риски приведены в сопроводительном отчёте.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план, реальные встречи не проводились. Источники: https://kanbanguides.org/the-kanban-guide и https://peps.python.org/pep-0008/. Даты являются будущим планом 02–27 ноября 2026. Подробности и риски приведены в сопроводительном отчёте.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план, реальные встречи не проводились. Источники: https://kanbanguides.org/the-kanban-guide и https://peps.python.org/pep-0008/. Даты являются будущим планом 02–27 ноября 2026. Подробности и риски приведены в сопроводительном отчёте.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c199da6bb44c2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5873ea6c5f4c7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376449aba34b8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91250fed734a9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584138e4ce4bf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3bd3a1740a41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94CD000-6A83-4A27-A4B6-C866BDEAE3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09407A2-74EF-4C55-9CA0-24CE86686E2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FB56545-C867-482F-8F42-016F0A8C64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E35442D-9A8F-4342-9197-10FF88BEF8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CA21528-09AF-48BF-A983-1C27E46C26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EE577CB-E5A9-44A6-920C-059668E72D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EB00741-5C25-48AA-AE08-7F9821B67E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011341B-159A-4B90-9033-2844A0F7724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901A154-9847-40B6-B34E-859F73A963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350154F-2778-4D5F-8EC5-894938AB1B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5bdaf12e3f44f6" /><Relationship Type="http://schemas.openxmlformats.org/officeDocument/2006/relationships/slideLayout" Target="/ppt/slideLayouts/slideLayout1.xml" Id="R1ca5cd929a554786" /><Relationship Type="http://schemas.openxmlformats.org/officeDocument/2006/relationships/slideLayout" Target="/ppt/slideLayouts/slideLayout2.xml" Id="R9bbe91038ee2432d" /><Relationship Type="http://schemas.openxmlformats.org/officeDocument/2006/relationships/slideLayout" Target="/ppt/slideLayouts/slideLayout3.xml" Id="R6d1f655b1a14458f" /><Relationship Type="http://schemas.openxmlformats.org/officeDocument/2006/relationships/slideLayout" Target="/ppt/slideLayouts/slideLayout4.xml" Id="R65dfeece7f63453d" /><Relationship Type="http://schemas.openxmlformats.org/officeDocument/2006/relationships/slideLayout" Target="/ppt/slideLayouts/slideLayout5.xml" Id="R3779c4170c6043a9" /><Relationship Type="http://schemas.openxmlformats.org/officeDocument/2006/relationships/slideLayout" Target="/ppt/slideLayouts/slideLayout6.xml" Id="R50b94850b5724c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a5cd929a554786"/>
    <p:sldLayoutId xmlns:r="http://schemas.openxmlformats.org/officeDocument/2006/relationships" id="2147483650" r:id="R9bbe91038ee2432d"/>
    <p:sldLayoutId xmlns:r="http://schemas.openxmlformats.org/officeDocument/2006/relationships" id="2147483651" r:id="R6d1f655b1a14458f"/>
    <p:sldLayoutId xmlns:r="http://schemas.openxmlformats.org/officeDocument/2006/relationships" id="2147483652" r:id="R65dfeece7f63453d"/>
    <p:sldLayoutId xmlns:r="http://schemas.openxmlformats.org/officeDocument/2006/relationships" id="2147483653" r:id="R3779c4170c6043a9"/>
    <p:sldLayoutId xmlns:r="http://schemas.openxmlformats.org/officeDocument/2006/relationships" id="2147483654" r:id="R50b94850b5724c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9c93b3c07f4b40" /><Relationship Type="http://schemas.openxmlformats.org/officeDocument/2006/relationships/notesSlide" Target="/ppt/notesSlides/notesSlide1.xml" Id="R2b79c86eec1e43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799feeaa0d41fa" /><Relationship Type="http://schemas.openxmlformats.org/officeDocument/2006/relationships/notesSlide" Target="/ppt/notesSlides/notesSlide2.xml" Id="R4dcf70cf33b04d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57ec0a2c974eda" /><Relationship Type="http://schemas.openxmlformats.org/officeDocument/2006/relationships/notesSlide" Target="/ppt/notesSlides/notesSlide3.xml" Id="Rdcb6c38d36d640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df984ef5ae4a4c" /><Relationship Type="http://schemas.openxmlformats.org/officeDocument/2006/relationships/notesSlide" Target="/ppt/notesSlides/notesSlide4.xml" Id="Rb62de08b46c048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c476be03fd4681" /><Relationship Type="http://schemas.openxmlformats.org/officeDocument/2006/relationships/notesSlide" Target="/ppt/notesSlides/notesSlide5.xml" Id="Rf3290698d74f4d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8657740623468f" /><Relationship Type="http://schemas.openxmlformats.org/officeDocument/2006/relationships/notesSlide" Target="/ppt/notesSlides/notesSlide6.xml" Id="Re6ff443c4e2a48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48c80cc2d342c8" /><Relationship Type="http://schemas.openxmlformats.org/officeDocument/2006/relationships/notesSlide" Target="/ppt/notesSlides/notesSlide7.xml" Id="Rc1f915f9b37f4d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D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EF0763-7BA1-44F9-8D63-F58094E5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76556"/>
                </a:solidFill>
                <a:latin typeface="Arial"/>
                <a:ea typeface="Arial"/>
                <a:cs typeface="Arial"/>
              </a:rPr>
              <a:t>Модуль резервирования оборудования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B7222C-95A6-4F34-9D6A-6862EC08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817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3427А · 1686 · 1/7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4FA221-17A7-47A0-8AD7-78BB01AA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Макаров Артем Александрович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15B52A-6D45-4904-BFB9-E71E5CEA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1">
                <a:solidFill>
                  <a:srgbClr val="263C46"/>
                </a:solidFill>
                <a:latin typeface="Arial"/>
                <a:ea typeface="Arial"/>
                <a:cs typeface="Arial"/>
              </a:defRPr>
            </a:defPPr>
            <a:lvl1pPr>
              <a:defRPr sz="2475" b="1">
                <a:solidFill>
                  <a:srgbClr val="263C46"/>
                </a:solidFill>
                <a:latin typeface="Arial"/>
                <a:ea typeface="Arial"/>
                <a:cs typeface="Arial"/>
              </a:defRPr>
            </a:lvl1pPr>
            <a:lvl2pPr>
              <a:defRPr sz="2475" b="1">
                <a:solidFill>
                  <a:srgbClr val="263C46"/>
                </a:solidFill>
                <a:latin typeface="Arial"/>
                <a:ea typeface="Arial"/>
                <a:cs typeface="Arial"/>
              </a:defRPr>
            </a:lvl2pPr>
            <a:lvl3pPr>
              <a:defRPr sz="2475" b="1">
                <a:solidFill>
                  <a:srgbClr val="263C46"/>
                </a:solidFill>
                <a:latin typeface="Arial"/>
                <a:ea typeface="Arial"/>
                <a:cs typeface="Arial"/>
              </a:defRPr>
            </a:lvl3pPr>
            <a:lvl4pPr>
              <a:defRPr sz="2475" b="1">
                <a:solidFill>
                  <a:srgbClr val="263C46"/>
                </a:solidFill>
                <a:latin typeface="Arial"/>
                <a:ea typeface="Arial"/>
                <a:cs typeface="Arial"/>
              </a:defRPr>
            </a:lvl4pPr>
            <a:lvl5pPr>
              <a:defRPr sz="2475" b="1">
                <a:solidFill>
                  <a:srgbClr val="263C46"/>
                </a:solidFill>
                <a:latin typeface="Arial"/>
                <a:ea typeface="Arial"/>
                <a:cs typeface="Arial"/>
              </a:defRPr>
            </a:lvl5pPr>
            <a:lvl6pPr>
              <a:defRPr sz="2475" b="1">
                <a:solidFill>
                  <a:srgbClr val="263C46"/>
                </a:solidFill>
                <a:latin typeface="Arial"/>
                <a:ea typeface="Arial"/>
                <a:cs typeface="Arial"/>
              </a:defRPr>
            </a:lvl6pPr>
            <a:lvl7pPr>
              <a:defRPr sz="2475" b="1">
                <a:solidFill>
                  <a:srgbClr val="263C46"/>
                </a:solidFill>
                <a:latin typeface="Arial"/>
                <a:ea typeface="Arial"/>
                <a:cs typeface="Arial"/>
              </a:defRPr>
            </a:lvl7pPr>
            <a:lvl8pPr>
              <a:defRPr sz="2475" b="1">
                <a:solidFill>
                  <a:srgbClr val="263C46"/>
                </a:solidFill>
                <a:latin typeface="Arial"/>
                <a:ea typeface="Arial"/>
                <a:cs typeface="Arial"/>
              </a:defRPr>
            </a:lvl8pPr>
            <a:lvl9pPr>
              <a:defRPr sz="2475" b="1">
                <a:solidFill>
                  <a:srgbClr val="263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63C46"/>
                </a:solidFill>
                <a:latin typeface="Arial"/>
                <a:ea typeface="Arial"/>
                <a:cs typeface="Arial"/>
              </a:rPr>
              <a:t>4 недели: контракт, реализация, интеграция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42D517-C43E-4F47-AEAB-7503BF07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67250"/>
            <a:ext cx="1076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5 разработчиков · 1 QA · 1 аналитик</a:t>
            </a:r>
          </a:p>
          <a:p xmlns:a="http://schemas.openxmlformats.org/drawingml/2006/main">
            <a:pPr>
              <a:defRPr sz="21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Руководитель координирует семь исполнителей.</a:t>
            </a:r>
          </a:p>
        </p:txBody>
      </p:sp>
    </p:spTree>
    <p:extLst>
      <p:ext uri="{BB962C8B-B14F-4D97-AF65-F5344CB8AC3E}">
        <p14:creationId xmlns:p14="http://schemas.microsoft.com/office/powerpoint/2010/main" val="20096321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D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5E6EDB-3CEF-48B4-A550-38E49D12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76556"/>
                </a:solidFill>
                <a:latin typeface="Arial"/>
                <a:ea typeface="Arial"/>
                <a:cs typeface="Arial"/>
              </a:rPr>
              <a:t>Кто отвечает за результат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CBDB9F-4D20-42CF-9F8E-2E7BC695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817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3427А · 1686 · 2/7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26034D-5D76-46A5-8025-27A43D8DEEF7}"/>
              </a:ext>
            </a:extLst>
          </p:cNvPr>
          <p:cNvGraphicFramePr/>
          <p:nvPr/>
        </p:nvGraphicFramePr>
        <p:xfrm>
          <a:off xmlns:a="http://schemas.openxmlformats.org/drawingml/2006/main" x="619125" y="1714500"/>
          <a:ext xmlns:a="http://schemas.openxmlformats.org/drawingml/2006/main" cx="1095375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8858250"/>
              </a:tblGrid>
              <a:tr h="511969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Роль</a:t>
                      </a:r>
                    </a:p>
                  </a:txBody>
                  <a:tcPr marL="91440" marR="91440" marT="45720" marB="45720">
                    <a:solidFill>
                      <a:srgbClr val="2765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Ответственность</a:t>
                      </a:r>
                    </a:p>
                  </a:txBody>
                  <a:tcPr marL="91440" marR="91440" marT="45720" marB="45720">
                    <a:solidFill>
                      <a:srgbClr val="276556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C46"/>
                          </a:solidFill>
                          <a:latin typeface="Arial"/>
                          <a:ea typeface="Arial"/>
                          <a:cs typeface="Arial"/>
                        </a:rPr>
                        <a:t>D1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C46"/>
                          </a:solidFill>
                          <a:latin typeface="Arial"/>
                          <a:ea typeface="Arial"/>
                          <a:cs typeface="Arial"/>
                        </a:rPr>
                        <a:t>API и интеграция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C46"/>
                          </a:solidFill>
                          <a:latin typeface="Arial"/>
                          <a:ea typeface="Arial"/>
                          <a:cs typeface="Arial"/>
                        </a:rPr>
                        <a:t>D2</a:t>
                      </a:r>
                    </a:p>
                  </a:txBody>
                  <a:tcPr marL="91440" marR="91440" marT="45720" marB="45720">
                    <a:solidFill>
                      <a:srgbClr val="FDFD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C46"/>
                          </a:solidFill>
                          <a:latin typeface="Arial"/>
                          <a:ea typeface="Arial"/>
                          <a:cs typeface="Arial"/>
                        </a:rPr>
                        <a:t>бизнес-правила</a:t>
                      </a:r>
                    </a:p>
                  </a:txBody>
                  <a:tcPr marL="91440" marR="91440" marT="45720" marB="45720">
                    <a:solidFill>
                      <a:srgbClr val="FDFDF9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C46"/>
                          </a:solidFill>
                          <a:latin typeface="Arial"/>
                          <a:ea typeface="Arial"/>
                          <a:cs typeface="Arial"/>
                        </a:rPr>
                        <a:t>D3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C46"/>
                          </a:solidFill>
                          <a:latin typeface="Arial"/>
                          <a:ea typeface="Arial"/>
                          <a:cs typeface="Arial"/>
                        </a:rPr>
                        <a:t>БД и миграции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C46"/>
                          </a:solidFill>
                          <a:latin typeface="Arial"/>
                          <a:ea typeface="Arial"/>
                          <a:cs typeface="Arial"/>
                        </a:rPr>
                        <a:t>D4</a:t>
                      </a:r>
                    </a:p>
                  </a:txBody>
                  <a:tcPr marL="91440" marR="91440" marT="45720" marB="45720">
                    <a:solidFill>
                      <a:srgbClr val="FDFD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C46"/>
                          </a:solidFill>
                          <a:latin typeface="Arial"/>
                          <a:ea typeface="Arial"/>
                          <a:cs typeface="Arial"/>
                        </a:rPr>
                        <a:t>интерфейс</a:t>
                      </a:r>
                    </a:p>
                  </a:txBody>
                  <a:tcPr marL="91440" marR="91440" marT="45720" marB="45720">
                    <a:solidFill>
                      <a:srgbClr val="FDFDF9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C46"/>
                          </a:solidFill>
                          <a:latin typeface="Arial"/>
                          <a:ea typeface="Arial"/>
                          <a:cs typeface="Arial"/>
                        </a:rPr>
                        <a:t>D5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C46"/>
                          </a:solidFill>
                          <a:latin typeface="Arial"/>
                          <a:ea typeface="Arial"/>
                          <a:cs typeface="Arial"/>
                        </a:rPr>
                        <a:t>CI и наблюдаемость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C46"/>
                          </a:solidFill>
                          <a:latin typeface="Arial"/>
                          <a:ea typeface="Arial"/>
                          <a:cs typeface="Arial"/>
                        </a:rPr>
                        <a:t>Q1</a:t>
                      </a:r>
                    </a:p>
                  </a:txBody>
                  <a:tcPr marL="91440" marR="91440" marT="45720" marB="45720">
                    <a:solidFill>
                      <a:srgbClr val="FDFD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C46"/>
                          </a:solidFill>
                          <a:latin typeface="Arial"/>
                          <a:ea typeface="Arial"/>
                          <a:cs typeface="Arial"/>
                        </a:rPr>
                        <a:t>Тестировщик: сценарии и регрессия</a:t>
                      </a:r>
                    </a:p>
                  </a:txBody>
                  <a:tcPr marL="91440" marR="91440" marT="45720" marB="45720">
                    <a:solidFill>
                      <a:srgbClr val="FDFDF9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C46"/>
                          </a:solidFill>
                          <a:latin typeface="Arial"/>
                          <a:ea typeface="Arial"/>
                          <a:cs typeface="Arial"/>
                        </a:rPr>
                        <a:t>A1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C46"/>
                          </a:solidFill>
                          <a:latin typeface="Arial"/>
                          <a:ea typeface="Arial"/>
                          <a:cs typeface="Arial"/>
                        </a:rPr>
                        <a:t>Аналитик: требования и приёмка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28640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D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9F1FE8-46F1-4B47-8007-661FB471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76556"/>
                </a:solidFill>
                <a:latin typeface="Arial"/>
                <a:ea typeface="Arial"/>
                <a:cs typeface="Arial"/>
              </a:rPr>
              <a:t>План на четыре недели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0CF3EB-B838-4D3A-9E74-D276D5D9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817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3427А · 1686 · 3/7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98E441-7AD7-4C46-8EE4-94DC8695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10858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02–06 ноября: критерии, контракт и прототип</a:t>
            </a:r>
          </a:p>
          <a:p xmlns:a="http://schemas.openxmlformats.org/drawingml/2006/main">
            <a: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09–13 ноября: первый сквозной сценарий</a:t>
            </a:r>
          </a:p>
          <a:p xmlns:a="http://schemas.openxmlformats.org/drawingml/2006/main">
            <a: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16–20 ноября: переходы, права и интеграция</a:t>
            </a:r>
          </a:p>
          <a:p xmlns:a="http://schemas.openxmlformats.org/drawingml/2006/main">
            <a: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23–25 ноября: регрессия и восстановление</a:t>
            </a:r>
          </a:p>
          <a:p xmlns:a="http://schemas.openxmlformats.org/drawingml/2006/main">
            <a: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26–27 ноября: приёмка и учебный выпуск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783895-A330-40F2-8B7C-E255F520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86375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Контрольные точки: согласованные примеры → сохранённая запись</a:t>
            </a:r>
          </a:p>
          <a:p xmlns:a="http://schemas.openxmlformats.org/drawingml/2006/main">
            <a:pPr>
              <a:defRPr sz="18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→ проверенные отказы → восстановленная копия → принятый сценарий.</a:t>
            </a:r>
          </a:p>
        </p:txBody>
      </p:sp>
    </p:spTree>
    <p:extLst>
      <p:ext uri="{BB962C8B-B14F-4D97-AF65-F5344CB8AC3E}">
        <p14:creationId xmlns:p14="http://schemas.microsoft.com/office/powerpoint/2010/main" val="20420537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D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87B6DA-B948-482A-AD29-72599566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76556"/>
                </a:solidFill>
                <a:latin typeface="Arial"/>
                <a:ea typeface="Arial"/>
                <a:cs typeface="Arial"/>
              </a:rPr>
              <a:t>Kanban: завершение важнее новой карточки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CE2125-B641-48B6-AB12-8A86F2F4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817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3427А · 1686 · 4/7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C29F27-0614-4330-88D2-9AF0402B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1714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F"/>
          </a:solidFill>
          <a:ln xmlns:a="http://schemas.openxmlformats.org/drawingml/2006/main" w="9525">
            <a:solidFill>
              <a:srgbClr val="276556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63C46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969E18-6E07-4AC3-8EED-A8E209B5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524125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6E4845-98D7-4821-8309-13D45E28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190750"/>
            <a:ext cx="1714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F"/>
          </a:solidFill>
          <a:ln xmlns:a="http://schemas.openxmlformats.org/drawingml/2006/main" w="9525">
            <a:solidFill>
              <a:srgbClr val="276556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63C46"/>
                </a:solidFill>
                <a:latin typeface="Arial"/>
                <a:ea typeface="Arial"/>
                <a:cs typeface="Arial"/>
              </a:rPr>
              <a:t>Разработка</a:t>
            </a:r>
          </a:p>
          <a:p xmlns:a="http://schemas.openxmlformats.org/drawingml/2006/main">
            <a: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63C46"/>
                </a:solidFill>
                <a:latin typeface="Arial"/>
                <a:ea typeface="Arial"/>
                <a:cs typeface="Arial"/>
              </a:rPr>
              <a:t>WIP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A131F3-48F6-4A16-A6D4-2CFF966D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24125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9F15D3-B02B-420B-B6C8-973844C6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90750"/>
            <a:ext cx="1714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F"/>
          </a:solidFill>
          <a:ln xmlns:a="http://schemas.openxmlformats.org/drawingml/2006/main" w="9525">
            <a:solidFill>
              <a:srgbClr val="276556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63C46"/>
                </a:solidFill>
                <a:latin typeface="Arial"/>
                <a:ea typeface="Arial"/>
                <a:cs typeface="Arial"/>
              </a:rPr>
              <a:t>Review</a:t>
            </a:r>
          </a:p>
          <a:p xmlns:a="http://schemas.openxmlformats.org/drawingml/2006/main">
            <a: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63C46"/>
                </a:solidFill>
                <a:latin typeface="Arial"/>
                <a:ea typeface="Arial"/>
                <a:cs typeface="Arial"/>
              </a:rPr>
              <a:t>WIP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907155-AE48-4B49-9863-DE9CAE56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24125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F0AA7E-DE57-4182-9481-8A8D5402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190750"/>
            <a:ext cx="1714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F"/>
          </a:solidFill>
          <a:ln xmlns:a="http://schemas.openxmlformats.org/drawingml/2006/main" w="9525">
            <a:solidFill>
              <a:srgbClr val="276556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63C46"/>
                </a:solidFill>
                <a:latin typeface="Arial"/>
                <a:ea typeface="Arial"/>
                <a:cs typeface="Arial"/>
              </a:rPr>
              <a:t>Test</a:t>
            </a:r>
          </a:p>
          <a:p xmlns:a="http://schemas.openxmlformats.org/drawingml/2006/main">
            <a: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63C46"/>
                </a:solidFill>
                <a:latin typeface="Arial"/>
                <a:ea typeface="Arial"/>
                <a:cs typeface="Arial"/>
              </a:rPr>
              <a:t>WIP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66DA39-12DD-486A-B1C7-26A29451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24125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41AB7A-7B7C-482D-B044-DC410C69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190750"/>
            <a:ext cx="1714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F"/>
          </a:solidFill>
          <a:ln xmlns:a="http://schemas.openxmlformats.org/drawingml/2006/main" w="9525">
            <a:solidFill>
              <a:srgbClr val="276556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63C46"/>
                </a:solidFill>
                <a:latin typeface="Arial"/>
                <a:ea typeface="Arial"/>
                <a:cs typeface="Arial"/>
              </a:rPr>
              <a:t>Приёмка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457040-92F9-4B41-A53C-F6E6B970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00500"/>
            <a:ext cx="1076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Причина выбора: разная длительность задач и зависимости.</a:t>
            </a:r>
          </a:p>
          <a:p xmlns:a="http://schemas.openxmlformats.org/drawingml/2006/main">
            <a:pPr>
              <a:defRPr sz="21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Блокировка остаётся в лимите незавершённой работы.</a:t>
            </a:r>
          </a:p>
          <a:p xmlns:a="http://schemas.openxmlformats.org/drawingml/2006/main">
            <a:pPr>
              <a:defRPr sz="21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При заполненном следующем этапе команда помогает завершению.</a:t>
            </a:r>
          </a:p>
        </p:txBody>
      </p:sp>
    </p:spTree>
    <p:extLst>
      <p:ext uri="{BB962C8B-B14F-4D97-AF65-F5344CB8AC3E}">
        <p14:creationId xmlns:p14="http://schemas.microsoft.com/office/powerpoint/2010/main" val="19997339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D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6EFC9D-7F6B-4DFC-BD00-2893A411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76556"/>
                </a:solidFill>
                <a:latin typeface="Arial"/>
                <a:ea typeface="Arial"/>
                <a:cs typeface="Arial"/>
              </a:rPr>
              <a:t>Связь, отчётность и решения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AB14A1-1FD9-424C-9F8B-BBA85515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817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3427А · 1686 · 5/7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B1A1FF-D617-46E2-9CFE-3642B30F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10763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Ежедневно 10:15: 10 минут о препятствиях</a:t>
            </a:r>
          </a:p>
          <a:p xmlns:a="http://schemas.openxmlformats.org/drawingml/2006/main">
            <a:pPr>
              <a:defRPr sz="23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Вт/чт: 25 минут уточнения карточек</a:t>
            </a:r>
          </a:p>
          <a:p xmlns:a="http://schemas.openxmlformats.org/drawingml/2006/main">
            <a:pPr>
              <a:defRPr sz="23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Пятница: 40 минут демонстрации и 20 минут разбора</a:t>
            </a:r>
          </a:p>
          <a:p xmlns:a="http://schemas.openxmlformats.org/drawingml/2006/main">
            <a:pPr>
              <a:defRPr sz="23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Решение из чата сохраняется в задаче или ADR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DE0092-BC0D-4493-972F-BA9DD067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Отчёт: завершённые сценарии, возраст задач, дефекты и прогноз.</a:t>
            </a:r>
          </a:p>
          <a:p xmlns:a="http://schemas.openxmlformats.org/drawingml/2006/main">
            <a:pPr>
              <a:defRPr sz="20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Коммиты и строки кода не используются для рейтинга людей.</a:t>
            </a:r>
          </a:p>
        </p:txBody>
      </p:sp>
    </p:spTree>
    <p:extLst>
      <p:ext uri="{BB962C8B-B14F-4D97-AF65-F5344CB8AC3E}">
        <p14:creationId xmlns:p14="http://schemas.microsoft.com/office/powerpoint/2010/main" val="2201144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D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3482DC-2DE0-4DC8-ADB7-DA719327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76556"/>
                </a:solidFill>
                <a:latin typeface="Arial"/>
                <a:ea typeface="Arial"/>
                <a:cs typeface="Arial"/>
              </a:rPr>
              <a:t>Качество кода и готовность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90C651-5B6D-4C76-8F97-0C1EB3C4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817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3427А · 1686 · 6/7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BFE445-3026-4FE1-8430-B3853DF5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10858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PEP 8: 4 пробела, snake_case, явные импорты</a:t>
            </a:r>
          </a:p>
          <a:p xmlns:a="http://schemas.openxmlformats.org/drawingml/2006/main">
            <a:pPr>
              <a:defRPr sz="23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flake8 проверяет стиль, тесты проверяют смысл.</a:t>
            </a:r>
          </a:p>
          <a:p xmlns:a="http://schemas.openxmlformats.org/drawingml/2006/main">
            <a:pPr>
              <a:defRPr sz="23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Короткая ветка → PR → независимый review → CI</a:t>
            </a:r>
          </a:p>
          <a:p xmlns:a="http://schemas.openxmlformats.org/drawingml/2006/main">
            <a:pPr>
              <a:defRPr sz="23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Done: критерии, тесты, документация и проверка отката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7E8EA8-16E7-42A1-9A9E-1839C699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Правила здесь предложены для команды.</a:t>
            </a:r>
          </a:p>
          <a:p xmlns:a="http://schemas.openxmlformats.org/drawingml/2006/main">
            <a:pPr>
              <a:defRPr sz="202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Настройка защиты GitHub-ветки не заявляется.</a:t>
            </a:r>
          </a:p>
        </p:txBody>
      </p:sp>
    </p:spTree>
    <p:extLst>
      <p:ext uri="{BB962C8B-B14F-4D97-AF65-F5344CB8AC3E}">
        <p14:creationId xmlns:p14="http://schemas.microsoft.com/office/powerpoint/2010/main" val="2636395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D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E91CB7-43C1-48E0-95DD-9F272B51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7655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76556"/>
                </a:solidFill>
                <a:latin typeface="Arial"/>
                <a:ea typeface="Arial"/>
                <a:cs typeface="Arial"/>
              </a:rPr>
              <a:t>Риски и реакция команды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C74319-8B45-4FED-A1D5-33D2AD64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817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3427А · 1686 · 7/7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30DCC8-D034-43D8-BA25-5FC2CF24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108585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Очередь QA: помочь тестированию до новой работы</a:t>
            </a:r>
          </a:p>
          <a:p xmlns:a="http://schemas.openxmlformats.org/drawingml/2006/main">
            <a:pPr>
              <a:defRPr sz="22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Неясное правило: согласовать пример до реализации</a:t>
            </a:r>
          </a:p>
          <a:p xmlns:a="http://schemas.openxmlformats.org/drawingml/2006/main">
            <a:pPr>
              <a:defRPr sz="22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Ошибка миграции: остановить выпуск и проверить откат</a:t>
            </a:r>
          </a:p>
          <a:p xmlns:a="http://schemas.openxmlformats.org/drawingml/2006/main">
            <a:pPr>
              <a:defRPr sz="22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Один владелец знаний: парная работа и ротация review</a:t>
            </a:r>
          </a:p>
          <a:p xmlns:a="http://schemas.openxmlformats.org/drawingml/2006/main">
            <a:pPr>
              <a:defRPr sz="22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Спор: критерии, варианты, ограниченный эксперимент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827824-81A2-40F1-A069-BE3987AB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2925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Плановый результат — проверенный сквозной сценарий.</a:t>
            </a:r>
          </a:p>
          <a:p xmlns:a="http://schemas.openxmlformats.org/drawingml/2006/main">
            <a:pPr>
              <a:defRPr sz="1950" b="0">
                <a:solidFill>
                  <a:srgbClr val="263C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63C46"/>
                </a:solidFill>
                <a:latin typeface="Arial"/>
                <a:ea typeface="Arial"/>
                <a:cs typeface="Arial"/>
              </a:rPr>
              <a:t>Эффект организации работы ещё не измерялся.</a:t>
            </a:r>
          </a:p>
        </p:txBody>
      </p:sp>
    </p:spTree>
    <p:extLst>
      <p:ext uri="{BB962C8B-B14F-4D97-AF65-F5344CB8AC3E}">
        <p14:creationId xmlns:p14="http://schemas.microsoft.com/office/powerpoint/2010/main" val="5429834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2026-10-29T19:54:31.8650000Z</dcterms:created>
  <dcterms:modified xsi:type="dcterms:W3CDTF">2026-10-29T19:54:31.8650000Z</dcterms:modified>
</coreProperties>
</file>